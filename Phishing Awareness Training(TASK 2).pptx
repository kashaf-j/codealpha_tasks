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0" r:id="rId4"/>
    <p:sldId id="261" r:id="rId5"/>
    <p:sldId id="262" r:id="rId6"/>
    <p:sldId id="263" r:id="rId7"/>
    <p:sldId id="265" r:id="rId8"/>
    <p:sldId id="266" r:id="rId9"/>
    <p:sldId id="257" r:id="rId10"/>
    <p:sldId id="267" r:id="rId11"/>
    <p:sldId id="258"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52AD9-4608-4672-8085-EE0FF402004E}"/>
              </a:ext>
            </a:extLst>
          </p:cNvPr>
          <p:cNvSpPr>
            <a:spLocks noGrp="1"/>
          </p:cNvSpPr>
          <p:nvPr>
            <p:ph type="ctrTitle"/>
          </p:nvPr>
        </p:nvSpPr>
        <p:spPr/>
        <p:txBody>
          <a:bodyPr/>
          <a:lstStyle/>
          <a:p>
            <a:r>
              <a:rPr lang="en-US" dirty="0"/>
              <a:t>Phishing Awareness Training</a:t>
            </a:r>
            <a:endParaRPr lang="en-PK" dirty="0"/>
          </a:p>
        </p:txBody>
      </p:sp>
      <p:sp>
        <p:nvSpPr>
          <p:cNvPr id="3" name="Subtitle 2">
            <a:extLst>
              <a:ext uri="{FF2B5EF4-FFF2-40B4-BE49-F238E27FC236}">
                <a16:creationId xmlns:a16="http://schemas.microsoft.com/office/drawing/2014/main" id="{AB0EDDCF-F7D8-4E6F-8E85-90F8FEE594B7}"/>
              </a:ext>
            </a:extLst>
          </p:cNvPr>
          <p:cNvSpPr>
            <a:spLocks noGrp="1"/>
          </p:cNvSpPr>
          <p:nvPr>
            <p:ph type="subTitle" idx="1"/>
          </p:nvPr>
        </p:nvSpPr>
        <p:spPr/>
        <p:txBody>
          <a:bodyPr/>
          <a:lstStyle/>
          <a:p>
            <a:r>
              <a:rPr lang="en-US" dirty="0"/>
              <a:t>T A S K  2</a:t>
            </a:r>
            <a:endParaRPr lang="en-PK" dirty="0"/>
          </a:p>
        </p:txBody>
      </p:sp>
    </p:spTree>
    <p:extLst>
      <p:ext uri="{BB962C8B-B14F-4D97-AF65-F5344CB8AC3E}">
        <p14:creationId xmlns:p14="http://schemas.microsoft.com/office/powerpoint/2010/main" val="4091911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83EF-49D2-4270-8060-212479F0EB9D}"/>
              </a:ext>
            </a:extLst>
          </p:cNvPr>
          <p:cNvSpPr>
            <a:spLocks noGrp="1"/>
          </p:cNvSpPr>
          <p:nvPr>
            <p:ph type="title"/>
          </p:nvPr>
        </p:nvSpPr>
        <p:spPr/>
        <p:txBody>
          <a:bodyPr/>
          <a:lstStyle/>
          <a:p>
            <a:r>
              <a:rPr lang="en-US" b="1" dirty="0"/>
              <a:t>Introduction to Phishing</a:t>
            </a:r>
          </a:p>
        </p:txBody>
      </p:sp>
      <p:sp>
        <p:nvSpPr>
          <p:cNvPr id="3" name="Content Placeholder 2">
            <a:extLst>
              <a:ext uri="{FF2B5EF4-FFF2-40B4-BE49-F238E27FC236}">
                <a16:creationId xmlns:a16="http://schemas.microsoft.com/office/drawing/2014/main" id="{1CC566B0-F8FE-4C54-A44F-F984F3C9E996}"/>
              </a:ext>
            </a:extLst>
          </p:cNvPr>
          <p:cNvSpPr>
            <a:spLocks noGrp="1"/>
          </p:cNvSpPr>
          <p:nvPr>
            <p:ph idx="1"/>
          </p:nvPr>
        </p:nvSpPr>
        <p:spPr>
          <a:xfrm>
            <a:off x="610389" y="1573618"/>
            <a:ext cx="8596668" cy="4425213"/>
          </a:xfrm>
        </p:spPr>
        <p:txBody>
          <a:bodyPr/>
          <a:lstStyle/>
          <a:p>
            <a:pPr marL="0" indent="0">
              <a:buNone/>
            </a:pPr>
            <a:r>
              <a:rPr lang="en-US" sz="2400" b="1" dirty="0"/>
              <a:t>Phishing</a:t>
            </a:r>
            <a:r>
              <a:rPr lang="en-US" sz="2400" dirty="0"/>
              <a:t> is a type of cyberattack where attackers impersonate trusted individuals or organizations to trick users into revealing sensitive information such as passwords, credit card numbers, or personal data.</a:t>
            </a:r>
          </a:p>
          <a:p>
            <a:r>
              <a:rPr lang="en-US" sz="2400" b="1" dirty="0"/>
              <a:t>Why Phishing is Dangerous</a:t>
            </a:r>
          </a:p>
          <a:p>
            <a:pPr>
              <a:buFont typeface="Arial" panose="020B0604020202020204" pitchFamily="34" charset="0"/>
              <a:buChar char="•"/>
            </a:pPr>
            <a:r>
              <a:rPr lang="en-US" sz="2400" dirty="0"/>
              <a:t>Can lead to identity theft</a:t>
            </a:r>
          </a:p>
          <a:p>
            <a:pPr>
              <a:buFont typeface="Arial" panose="020B0604020202020204" pitchFamily="34" charset="0"/>
              <a:buChar char="•"/>
            </a:pPr>
            <a:r>
              <a:rPr lang="en-US" sz="2400" dirty="0"/>
              <a:t>Financial loss</a:t>
            </a:r>
          </a:p>
          <a:p>
            <a:pPr>
              <a:buFont typeface="Arial" panose="020B0604020202020204" pitchFamily="34" charset="0"/>
              <a:buChar char="•"/>
            </a:pPr>
            <a:r>
              <a:rPr lang="en-US" sz="2400" dirty="0"/>
              <a:t>Unauthorized access to systems</a:t>
            </a:r>
          </a:p>
          <a:p>
            <a:pPr>
              <a:buFont typeface="Arial" panose="020B0604020202020204" pitchFamily="34" charset="0"/>
              <a:buChar char="•"/>
            </a:pPr>
            <a:r>
              <a:rPr lang="en-US" sz="2400" dirty="0"/>
              <a:t>Data breaches in organizations</a:t>
            </a:r>
          </a:p>
          <a:p>
            <a:endParaRPr lang="en-PK" dirty="0"/>
          </a:p>
        </p:txBody>
      </p:sp>
    </p:spTree>
    <p:extLst>
      <p:ext uri="{BB962C8B-B14F-4D97-AF65-F5344CB8AC3E}">
        <p14:creationId xmlns:p14="http://schemas.microsoft.com/office/powerpoint/2010/main" val="2117625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2342F-F974-41BF-9C53-8A02E204C195}"/>
              </a:ext>
            </a:extLst>
          </p:cNvPr>
          <p:cNvSpPr>
            <a:spLocks noGrp="1"/>
          </p:cNvSpPr>
          <p:nvPr>
            <p:ph type="title"/>
          </p:nvPr>
        </p:nvSpPr>
        <p:spPr/>
        <p:txBody>
          <a:bodyPr/>
          <a:lstStyle/>
          <a:p>
            <a:r>
              <a:rPr lang="en-US" b="1" dirty="0"/>
              <a:t>How to Recognize Phishing Emails</a:t>
            </a:r>
            <a:br>
              <a:rPr lang="en-US" b="1" dirty="0"/>
            </a:br>
            <a:endParaRPr lang="en-PK" dirty="0"/>
          </a:p>
        </p:txBody>
      </p:sp>
      <p:sp>
        <p:nvSpPr>
          <p:cNvPr id="3" name="Content Placeholder 2">
            <a:extLst>
              <a:ext uri="{FF2B5EF4-FFF2-40B4-BE49-F238E27FC236}">
                <a16:creationId xmlns:a16="http://schemas.microsoft.com/office/drawing/2014/main" id="{8AE94837-E4B2-4B33-961C-00A6D59AB5C1}"/>
              </a:ext>
            </a:extLst>
          </p:cNvPr>
          <p:cNvSpPr>
            <a:spLocks noGrp="1"/>
          </p:cNvSpPr>
          <p:nvPr>
            <p:ph idx="1"/>
          </p:nvPr>
        </p:nvSpPr>
        <p:spPr>
          <a:xfrm>
            <a:off x="677334" y="1392865"/>
            <a:ext cx="8596668" cy="4648497"/>
          </a:xfrm>
        </p:spPr>
        <p:txBody>
          <a:bodyPr>
            <a:normAutofit/>
          </a:bodyPr>
          <a:lstStyle/>
          <a:p>
            <a:pPr marL="0" indent="0">
              <a:buNone/>
            </a:pPr>
            <a:endParaRPr lang="en-US" b="1" dirty="0"/>
          </a:p>
          <a:p>
            <a:pPr marL="0" indent="0">
              <a:buNone/>
            </a:pPr>
            <a:r>
              <a:rPr lang="en-US" b="1" u="sng" dirty="0"/>
              <a:t>Common Signs of Phishing Emails</a:t>
            </a:r>
          </a:p>
          <a:p>
            <a:r>
              <a:rPr lang="en-US" dirty="0"/>
              <a:t>Urgent or threatening language ("Your account will be suspended")</a:t>
            </a:r>
          </a:p>
          <a:p>
            <a:r>
              <a:rPr lang="en-US" dirty="0"/>
              <a:t>Unexpected attachments or links</a:t>
            </a:r>
          </a:p>
          <a:p>
            <a:r>
              <a:rPr lang="en-US" dirty="0"/>
              <a:t>Suspicious sender email address</a:t>
            </a:r>
          </a:p>
          <a:p>
            <a:r>
              <a:rPr lang="en-US" dirty="0"/>
              <a:t>Spelling and grammar mistakes</a:t>
            </a:r>
          </a:p>
          <a:p>
            <a:r>
              <a:rPr lang="en-US" dirty="0"/>
              <a:t>Requests for personal or financial information</a:t>
            </a:r>
          </a:p>
          <a:p>
            <a:pPr marL="0" indent="0">
              <a:buNone/>
            </a:pPr>
            <a:r>
              <a:rPr lang="en-US" b="1" u="sng" dirty="0"/>
              <a:t>What to Check</a:t>
            </a:r>
          </a:p>
          <a:p>
            <a:r>
              <a:rPr lang="en-US" dirty="0"/>
              <a:t>Hover over links to see the real URL</a:t>
            </a:r>
          </a:p>
          <a:p>
            <a:r>
              <a:rPr lang="en-US" dirty="0"/>
              <a:t>Check sender domain carefully</a:t>
            </a:r>
          </a:p>
          <a:p>
            <a:r>
              <a:rPr lang="en-US" dirty="0"/>
              <a:t>Be cautious of emails asking for immediate action</a:t>
            </a:r>
          </a:p>
          <a:p>
            <a:endParaRPr lang="en-PK" dirty="0"/>
          </a:p>
        </p:txBody>
      </p:sp>
    </p:spTree>
    <p:extLst>
      <p:ext uri="{BB962C8B-B14F-4D97-AF65-F5344CB8AC3E}">
        <p14:creationId xmlns:p14="http://schemas.microsoft.com/office/powerpoint/2010/main" val="3970103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89DC5-FA36-4E3C-98F7-58BF4ED16211}"/>
              </a:ext>
            </a:extLst>
          </p:cNvPr>
          <p:cNvSpPr>
            <a:spLocks noGrp="1"/>
          </p:cNvSpPr>
          <p:nvPr>
            <p:ph type="title"/>
          </p:nvPr>
        </p:nvSpPr>
        <p:spPr/>
        <p:txBody>
          <a:bodyPr/>
          <a:lstStyle/>
          <a:p>
            <a:r>
              <a:rPr lang="en-US" dirty="0"/>
              <a:t>How to Identify Fake Websites</a:t>
            </a:r>
            <a:br>
              <a:rPr lang="en-US" dirty="0"/>
            </a:br>
            <a:endParaRPr lang="en-PK" dirty="0"/>
          </a:p>
        </p:txBody>
      </p:sp>
      <p:sp>
        <p:nvSpPr>
          <p:cNvPr id="3" name="Content Placeholder 2">
            <a:extLst>
              <a:ext uri="{FF2B5EF4-FFF2-40B4-BE49-F238E27FC236}">
                <a16:creationId xmlns:a16="http://schemas.microsoft.com/office/drawing/2014/main" id="{5AA656AD-E61D-46E8-926E-F5B9776FE4BA}"/>
              </a:ext>
            </a:extLst>
          </p:cNvPr>
          <p:cNvSpPr>
            <a:spLocks noGrp="1"/>
          </p:cNvSpPr>
          <p:nvPr>
            <p:ph idx="1"/>
          </p:nvPr>
        </p:nvSpPr>
        <p:spPr/>
        <p:txBody>
          <a:bodyPr/>
          <a:lstStyle/>
          <a:p>
            <a:pPr marL="0" indent="0">
              <a:buNone/>
            </a:pPr>
            <a:r>
              <a:rPr lang="en-US" b="1" dirty="0"/>
              <a:t>Red Flags of Fake Websites</a:t>
            </a:r>
          </a:p>
          <a:p>
            <a:r>
              <a:rPr lang="en-US" dirty="0"/>
              <a:t>URL looks similar but slightly different (e.g., paypaI.com instead of paypal.com)</a:t>
            </a:r>
          </a:p>
          <a:p>
            <a:r>
              <a:rPr lang="en-US" dirty="0"/>
              <a:t>No HTTPS or padlock symbol</a:t>
            </a:r>
          </a:p>
          <a:p>
            <a:r>
              <a:rPr lang="en-US" dirty="0"/>
              <a:t>Poor website design or broken links</a:t>
            </a:r>
          </a:p>
          <a:p>
            <a:r>
              <a:rPr lang="en-US" dirty="0"/>
              <a:t>Requests for sensitive information unnecessarily</a:t>
            </a:r>
          </a:p>
          <a:p>
            <a:endParaRPr lang="en-PK" dirty="0"/>
          </a:p>
        </p:txBody>
      </p:sp>
    </p:spTree>
    <p:extLst>
      <p:ext uri="{BB962C8B-B14F-4D97-AF65-F5344CB8AC3E}">
        <p14:creationId xmlns:p14="http://schemas.microsoft.com/office/powerpoint/2010/main" val="3667033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6BAD-6DE4-4A63-8D67-3842C2C3FFB0}"/>
              </a:ext>
            </a:extLst>
          </p:cNvPr>
          <p:cNvSpPr>
            <a:spLocks noGrp="1"/>
          </p:cNvSpPr>
          <p:nvPr>
            <p:ph type="title"/>
          </p:nvPr>
        </p:nvSpPr>
        <p:spPr/>
        <p:txBody>
          <a:bodyPr>
            <a:normAutofit fontScale="90000"/>
          </a:bodyPr>
          <a:lstStyle/>
          <a:p>
            <a:r>
              <a:rPr lang="en-US" sz="4400" b="1" dirty="0"/>
              <a:t>Social Engineering Tactics Used by Attackers</a:t>
            </a:r>
            <a:br>
              <a:rPr lang="en-US" b="1" dirty="0"/>
            </a:br>
            <a:endParaRPr lang="en-PK" dirty="0"/>
          </a:p>
        </p:txBody>
      </p:sp>
      <p:sp>
        <p:nvSpPr>
          <p:cNvPr id="3" name="Content Placeholder 2">
            <a:extLst>
              <a:ext uri="{FF2B5EF4-FFF2-40B4-BE49-F238E27FC236}">
                <a16:creationId xmlns:a16="http://schemas.microsoft.com/office/drawing/2014/main" id="{CF9AA40C-DB96-4777-82EE-C27F260A59F4}"/>
              </a:ext>
            </a:extLst>
          </p:cNvPr>
          <p:cNvSpPr>
            <a:spLocks noGrp="1"/>
          </p:cNvSpPr>
          <p:nvPr>
            <p:ph idx="1"/>
          </p:nvPr>
        </p:nvSpPr>
        <p:spPr/>
        <p:txBody>
          <a:bodyPr/>
          <a:lstStyle/>
          <a:p>
            <a:pPr marL="0" indent="0">
              <a:buNone/>
            </a:pPr>
            <a:r>
              <a:rPr lang="en-US" dirty="0"/>
              <a:t>Social engineering is the psychological manipulation of users to make them give up confidential information.</a:t>
            </a:r>
          </a:p>
          <a:p>
            <a:pPr marL="0" indent="0">
              <a:buNone/>
            </a:pPr>
            <a:r>
              <a:rPr lang="en-US" b="1" u="sng" dirty="0"/>
              <a:t>Common Tactics</a:t>
            </a:r>
          </a:p>
          <a:p>
            <a:r>
              <a:rPr lang="en-US" b="1" dirty="0"/>
              <a:t>Urgency:</a:t>
            </a:r>
            <a:r>
              <a:rPr lang="en-US" dirty="0"/>
              <a:t> "Act now or your account will be locked"</a:t>
            </a:r>
          </a:p>
          <a:p>
            <a:r>
              <a:rPr lang="en-US" b="1" dirty="0"/>
              <a:t>Authority:</a:t>
            </a:r>
            <a:r>
              <a:rPr lang="en-US" dirty="0"/>
              <a:t> Pretending to be a boss, bank, or IT staff</a:t>
            </a:r>
          </a:p>
          <a:p>
            <a:r>
              <a:rPr lang="en-US" b="1" dirty="0"/>
              <a:t>Fear:</a:t>
            </a:r>
            <a:r>
              <a:rPr lang="en-US" dirty="0"/>
              <a:t> Threatening consequences</a:t>
            </a:r>
          </a:p>
          <a:p>
            <a:r>
              <a:rPr lang="en-US" b="1" dirty="0"/>
              <a:t>Trust:</a:t>
            </a:r>
            <a:r>
              <a:rPr lang="en-US" dirty="0"/>
              <a:t> Pretending to help or offer rewards</a:t>
            </a:r>
          </a:p>
          <a:p>
            <a:r>
              <a:rPr lang="en-US" b="1" dirty="0"/>
              <a:t>Curiosity:</a:t>
            </a:r>
            <a:r>
              <a:rPr lang="en-US" dirty="0"/>
              <a:t> "See who viewed your profile</a:t>
            </a:r>
          </a:p>
          <a:p>
            <a:endParaRPr lang="en-PK" dirty="0"/>
          </a:p>
        </p:txBody>
      </p:sp>
    </p:spTree>
    <p:extLst>
      <p:ext uri="{BB962C8B-B14F-4D97-AF65-F5344CB8AC3E}">
        <p14:creationId xmlns:p14="http://schemas.microsoft.com/office/powerpoint/2010/main" val="109568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F6FBD-35FE-4B69-933A-903B6FB272B4}"/>
              </a:ext>
            </a:extLst>
          </p:cNvPr>
          <p:cNvSpPr>
            <a:spLocks noGrp="1"/>
          </p:cNvSpPr>
          <p:nvPr>
            <p:ph type="title"/>
          </p:nvPr>
        </p:nvSpPr>
        <p:spPr/>
        <p:txBody>
          <a:bodyPr>
            <a:noAutofit/>
          </a:bodyPr>
          <a:lstStyle/>
          <a:p>
            <a:r>
              <a:rPr lang="en-US" sz="4400" b="1" dirty="0"/>
              <a:t>Best Practices to Avoid Phishing Attacks</a:t>
            </a:r>
            <a:br>
              <a:rPr lang="en-US" sz="4400" b="1" dirty="0"/>
            </a:br>
            <a:endParaRPr lang="en-PK" sz="4400" dirty="0"/>
          </a:p>
        </p:txBody>
      </p:sp>
      <p:sp>
        <p:nvSpPr>
          <p:cNvPr id="3" name="Content Placeholder 2">
            <a:extLst>
              <a:ext uri="{FF2B5EF4-FFF2-40B4-BE49-F238E27FC236}">
                <a16:creationId xmlns:a16="http://schemas.microsoft.com/office/drawing/2014/main" id="{C78EB550-10D6-4B7F-A89D-19DA785655D7}"/>
              </a:ext>
            </a:extLst>
          </p:cNvPr>
          <p:cNvSpPr>
            <a:spLocks noGrp="1"/>
          </p:cNvSpPr>
          <p:nvPr>
            <p:ph idx="1"/>
          </p:nvPr>
        </p:nvSpPr>
        <p:spPr/>
        <p:txBody>
          <a:bodyPr>
            <a:normAutofit lnSpcReduction="10000"/>
          </a:bodyPr>
          <a:lstStyle/>
          <a:p>
            <a:pPr marL="0" indent="0">
              <a:buNone/>
            </a:pPr>
            <a:r>
              <a:rPr lang="en-US" b="1" dirty="0"/>
              <a:t>Do’s</a:t>
            </a:r>
          </a:p>
          <a:p>
            <a:r>
              <a:rPr lang="en-US" dirty="0"/>
              <a:t>Verify emails before clicking links</a:t>
            </a:r>
          </a:p>
          <a:p>
            <a:r>
              <a:rPr lang="en-US" dirty="0"/>
              <a:t>Use strong, unique passwords</a:t>
            </a:r>
          </a:p>
          <a:p>
            <a:r>
              <a:rPr lang="en-US" dirty="0"/>
              <a:t>Enable two-factor authentication (2FA)</a:t>
            </a:r>
          </a:p>
          <a:p>
            <a:r>
              <a:rPr lang="en-US" dirty="0"/>
              <a:t>Keep software and browsers updated</a:t>
            </a:r>
          </a:p>
          <a:p>
            <a:r>
              <a:rPr lang="en-US" dirty="0"/>
              <a:t>Report suspicious emails to IT/security team</a:t>
            </a:r>
          </a:p>
          <a:p>
            <a:pPr marL="0" indent="0">
              <a:buNone/>
            </a:pPr>
            <a:r>
              <a:rPr lang="en-US" b="1" dirty="0"/>
              <a:t>Don’ts</a:t>
            </a:r>
          </a:p>
          <a:p>
            <a:r>
              <a:rPr lang="en-US" dirty="0"/>
              <a:t>Do not click unknown links</a:t>
            </a:r>
          </a:p>
          <a:p>
            <a:r>
              <a:rPr lang="en-US" dirty="0"/>
              <a:t>Do not download suspicious attachments</a:t>
            </a:r>
          </a:p>
          <a:p>
            <a:r>
              <a:rPr lang="en-US" dirty="0"/>
              <a:t>Do not share personal information via email</a:t>
            </a:r>
          </a:p>
          <a:p>
            <a:endParaRPr lang="en-PK" dirty="0"/>
          </a:p>
        </p:txBody>
      </p:sp>
    </p:spTree>
    <p:extLst>
      <p:ext uri="{BB962C8B-B14F-4D97-AF65-F5344CB8AC3E}">
        <p14:creationId xmlns:p14="http://schemas.microsoft.com/office/powerpoint/2010/main" val="3626476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D0EA1-A393-4875-A8F3-7A57180508CC}"/>
              </a:ext>
            </a:extLst>
          </p:cNvPr>
          <p:cNvSpPr>
            <a:spLocks noGrp="1"/>
          </p:cNvSpPr>
          <p:nvPr>
            <p:ph type="title"/>
          </p:nvPr>
        </p:nvSpPr>
        <p:spPr/>
        <p:txBody>
          <a:bodyPr/>
          <a:lstStyle/>
          <a:p>
            <a:r>
              <a:rPr lang="en-US" b="1" dirty="0"/>
              <a:t>Real-World Phishing Examples</a:t>
            </a:r>
            <a:br>
              <a:rPr lang="en-US" b="1" dirty="0"/>
            </a:br>
            <a:endParaRPr lang="en-PK" dirty="0"/>
          </a:p>
        </p:txBody>
      </p:sp>
      <p:sp>
        <p:nvSpPr>
          <p:cNvPr id="3" name="Content Placeholder 2">
            <a:extLst>
              <a:ext uri="{FF2B5EF4-FFF2-40B4-BE49-F238E27FC236}">
                <a16:creationId xmlns:a16="http://schemas.microsoft.com/office/drawing/2014/main" id="{9C5DDB1F-6D9C-4BF0-9E13-AC586C925532}"/>
              </a:ext>
            </a:extLst>
          </p:cNvPr>
          <p:cNvSpPr>
            <a:spLocks noGrp="1"/>
          </p:cNvSpPr>
          <p:nvPr>
            <p:ph idx="1"/>
          </p:nvPr>
        </p:nvSpPr>
        <p:spPr/>
        <p:txBody>
          <a:bodyPr>
            <a:normAutofit/>
          </a:bodyPr>
          <a:lstStyle/>
          <a:p>
            <a:pPr marL="0" indent="0">
              <a:buNone/>
            </a:pPr>
            <a:r>
              <a:rPr lang="en-US" b="1" dirty="0"/>
              <a:t>Example 1: Fake Bank Email</a:t>
            </a:r>
          </a:p>
          <a:p>
            <a:r>
              <a:rPr lang="en-US" dirty="0"/>
              <a:t>Claims unusual activity</a:t>
            </a:r>
          </a:p>
          <a:p>
            <a:r>
              <a:rPr lang="en-US" dirty="0"/>
              <a:t>Asks user to "verify account"</a:t>
            </a:r>
          </a:p>
          <a:p>
            <a:pPr marL="0" indent="0">
              <a:buNone/>
            </a:pPr>
            <a:r>
              <a:rPr lang="en-US" b="1" dirty="0"/>
              <a:t>Example 2: University Email Scam</a:t>
            </a:r>
          </a:p>
          <a:p>
            <a:r>
              <a:rPr lang="en-US" dirty="0"/>
              <a:t>Fake email from administration</a:t>
            </a:r>
          </a:p>
          <a:p>
            <a:r>
              <a:rPr lang="en-US" dirty="0"/>
              <a:t>Requests login credentials for "portal update"</a:t>
            </a:r>
          </a:p>
          <a:p>
            <a:pPr marL="0" indent="0">
              <a:buNone/>
            </a:pPr>
            <a:r>
              <a:rPr lang="en-US" b="1" dirty="0"/>
              <a:t>Example 3: Prize or Reward Scam</a:t>
            </a:r>
          </a:p>
          <a:p>
            <a:r>
              <a:rPr lang="en-US" dirty="0"/>
              <a:t>"You have won a gift card"</a:t>
            </a:r>
          </a:p>
          <a:p>
            <a:r>
              <a:rPr lang="en-US" dirty="0"/>
              <a:t>Requires clicking a malicious link</a:t>
            </a:r>
          </a:p>
          <a:p>
            <a:endParaRPr lang="en-PK" dirty="0"/>
          </a:p>
        </p:txBody>
      </p:sp>
    </p:spTree>
    <p:extLst>
      <p:ext uri="{BB962C8B-B14F-4D97-AF65-F5344CB8AC3E}">
        <p14:creationId xmlns:p14="http://schemas.microsoft.com/office/powerpoint/2010/main" val="1364294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F129-FCF1-4DA9-8E0A-3FFB629F7E3A}"/>
              </a:ext>
            </a:extLst>
          </p:cNvPr>
          <p:cNvSpPr>
            <a:spLocks noGrp="1"/>
          </p:cNvSpPr>
          <p:nvPr>
            <p:ph type="title"/>
          </p:nvPr>
        </p:nvSpPr>
        <p:spPr/>
        <p:txBody>
          <a:bodyPr/>
          <a:lstStyle/>
          <a:p>
            <a:r>
              <a:rPr lang="en-US" b="1" dirty="0"/>
              <a:t>Interactive Quiz (For Engagement)</a:t>
            </a:r>
            <a:br>
              <a:rPr lang="en-US" b="1" dirty="0"/>
            </a:br>
            <a:endParaRPr lang="en-PK" dirty="0"/>
          </a:p>
        </p:txBody>
      </p:sp>
      <p:sp>
        <p:nvSpPr>
          <p:cNvPr id="3" name="Content Placeholder 2">
            <a:extLst>
              <a:ext uri="{FF2B5EF4-FFF2-40B4-BE49-F238E27FC236}">
                <a16:creationId xmlns:a16="http://schemas.microsoft.com/office/drawing/2014/main" id="{2985E30D-2A90-43D2-9BC0-020E3A227248}"/>
              </a:ext>
            </a:extLst>
          </p:cNvPr>
          <p:cNvSpPr>
            <a:spLocks noGrp="1"/>
          </p:cNvSpPr>
          <p:nvPr>
            <p:ph idx="1"/>
          </p:nvPr>
        </p:nvSpPr>
        <p:spPr/>
        <p:txBody>
          <a:bodyPr>
            <a:normAutofit/>
          </a:bodyPr>
          <a:lstStyle/>
          <a:p>
            <a:pPr marL="0" indent="0">
              <a:buNone/>
            </a:pPr>
            <a:r>
              <a:rPr lang="en-US" b="1" dirty="0"/>
              <a:t>Question 1</a:t>
            </a:r>
          </a:p>
          <a:p>
            <a:r>
              <a:rPr lang="en-US" dirty="0"/>
              <a:t>Which of the following is a sign of a phishing email?</a:t>
            </a:r>
          </a:p>
          <a:p>
            <a:r>
              <a:rPr lang="en-US" dirty="0"/>
              <a:t>a) Personalized greeting</a:t>
            </a:r>
          </a:p>
          <a:p>
            <a:r>
              <a:rPr lang="en-US" dirty="0"/>
              <a:t>b) Urgent request for information</a:t>
            </a:r>
          </a:p>
          <a:p>
            <a:r>
              <a:rPr lang="en-US" dirty="0"/>
              <a:t>c) Email from a known contact</a:t>
            </a:r>
          </a:p>
          <a:p>
            <a:pPr marL="0" indent="0">
              <a:buNone/>
            </a:pPr>
            <a:endParaRPr lang="en-PK" dirty="0"/>
          </a:p>
        </p:txBody>
      </p:sp>
    </p:spTree>
    <p:extLst>
      <p:ext uri="{BB962C8B-B14F-4D97-AF65-F5344CB8AC3E}">
        <p14:creationId xmlns:p14="http://schemas.microsoft.com/office/powerpoint/2010/main" val="924683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760D-C91C-44BE-B363-4110B318277B}"/>
              </a:ext>
            </a:extLst>
          </p:cNvPr>
          <p:cNvSpPr>
            <a:spLocks noGrp="1"/>
          </p:cNvSpPr>
          <p:nvPr>
            <p:ph type="title"/>
          </p:nvPr>
        </p:nvSpPr>
        <p:spPr>
          <a:xfrm>
            <a:off x="879353" y="2768600"/>
            <a:ext cx="8596668" cy="1320800"/>
          </a:xfrm>
        </p:spPr>
        <p:txBody>
          <a:bodyPr/>
          <a:lstStyle/>
          <a:p>
            <a:pPr algn="ctr"/>
            <a:r>
              <a:rPr lang="en-US" b="1" dirty="0"/>
              <a:t>Correct Answer:</a:t>
            </a:r>
            <a:r>
              <a:rPr lang="en-US" dirty="0"/>
              <a:t> b</a:t>
            </a:r>
            <a:br>
              <a:rPr lang="en-US" dirty="0"/>
            </a:br>
            <a:endParaRPr lang="en-PK" dirty="0"/>
          </a:p>
        </p:txBody>
      </p:sp>
    </p:spTree>
    <p:extLst>
      <p:ext uri="{BB962C8B-B14F-4D97-AF65-F5344CB8AC3E}">
        <p14:creationId xmlns:p14="http://schemas.microsoft.com/office/powerpoint/2010/main" val="1331084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F67616-2C4E-4EDF-BE5E-D7BD94EF0509}"/>
              </a:ext>
            </a:extLst>
          </p:cNvPr>
          <p:cNvSpPr>
            <a:spLocks noGrp="1"/>
          </p:cNvSpPr>
          <p:nvPr>
            <p:ph idx="1"/>
          </p:nvPr>
        </p:nvSpPr>
        <p:spPr>
          <a:xfrm>
            <a:off x="754912" y="1456661"/>
            <a:ext cx="8519090" cy="4584702"/>
          </a:xfrm>
        </p:spPr>
        <p:txBody>
          <a:bodyPr>
            <a:normAutofit/>
          </a:bodyPr>
          <a:lstStyle/>
          <a:p>
            <a:pPr marL="0" indent="0">
              <a:buNone/>
            </a:pPr>
            <a:r>
              <a:rPr lang="en-US" b="1" dirty="0"/>
              <a:t>Question 2</a:t>
            </a:r>
          </a:p>
          <a:p>
            <a:r>
              <a:rPr lang="en-US" dirty="0"/>
              <a:t>What should you do if you receive a suspicious email?</a:t>
            </a:r>
          </a:p>
          <a:p>
            <a:r>
              <a:rPr lang="en-US" dirty="0"/>
              <a:t>a) Click the link to check</a:t>
            </a:r>
          </a:p>
          <a:p>
            <a:r>
              <a:rPr lang="en-US" dirty="0"/>
              <a:t>b) Reply with your details</a:t>
            </a:r>
          </a:p>
          <a:p>
            <a:r>
              <a:rPr lang="en-US" dirty="0"/>
              <a:t>c) Report and delete it</a:t>
            </a:r>
          </a:p>
          <a:p>
            <a:endParaRPr lang="en-PK" dirty="0"/>
          </a:p>
        </p:txBody>
      </p:sp>
    </p:spTree>
    <p:extLst>
      <p:ext uri="{BB962C8B-B14F-4D97-AF65-F5344CB8AC3E}">
        <p14:creationId xmlns:p14="http://schemas.microsoft.com/office/powerpoint/2010/main" val="841507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27423-1AA4-4C76-A168-0FCDF7C581E3}"/>
              </a:ext>
            </a:extLst>
          </p:cNvPr>
          <p:cNvSpPr>
            <a:spLocks noGrp="1"/>
          </p:cNvSpPr>
          <p:nvPr>
            <p:ph type="title"/>
          </p:nvPr>
        </p:nvSpPr>
        <p:spPr>
          <a:xfrm>
            <a:off x="581641" y="2640418"/>
            <a:ext cx="8596668" cy="1320800"/>
          </a:xfrm>
        </p:spPr>
        <p:txBody>
          <a:bodyPr/>
          <a:lstStyle/>
          <a:p>
            <a:pPr algn="ctr"/>
            <a:r>
              <a:rPr lang="en-US" b="1" dirty="0"/>
              <a:t>Correct Answer:</a:t>
            </a:r>
            <a:r>
              <a:rPr lang="en-US" dirty="0"/>
              <a:t> c</a:t>
            </a:r>
            <a:br>
              <a:rPr lang="en-US" dirty="0"/>
            </a:br>
            <a:endParaRPr lang="en-PK" dirty="0"/>
          </a:p>
        </p:txBody>
      </p:sp>
    </p:spTree>
    <p:extLst>
      <p:ext uri="{BB962C8B-B14F-4D97-AF65-F5344CB8AC3E}">
        <p14:creationId xmlns:p14="http://schemas.microsoft.com/office/powerpoint/2010/main" val="2398494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F77C9E-ADF5-4924-8D69-577528770AD1}"/>
              </a:ext>
            </a:extLst>
          </p:cNvPr>
          <p:cNvSpPr>
            <a:spLocks noGrp="1"/>
          </p:cNvSpPr>
          <p:nvPr>
            <p:ph idx="1"/>
          </p:nvPr>
        </p:nvSpPr>
        <p:spPr>
          <a:xfrm>
            <a:off x="691116" y="1435395"/>
            <a:ext cx="8582886" cy="4605967"/>
          </a:xfrm>
        </p:spPr>
        <p:txBody>
          <a:bodyPr/>
          <a:lstStyle/>
          <a:p>
            <a:pPr marL="0" indent="0">
              <a:buNone/>
            </a:pPr>
            <a:r>
              <a:rPr lang="en-US" b="1" dirty="0"/>
              <a:t>Question 3</a:t>
            </a:r>
          </a:p>
          <a:p>
            <a:r>
              <a:rPr lang="en-US" dirty="0"/>
              <a:t>Which URL is most likely fake?</a:t>
            </a:r>
          </a:p>
          <a:p>
            <a:r>
              <a:rPr lang="en-US" dirty="0"/>
              <a:t>a) https://www.google.com</a:t>
            </a:r>
          </a:p>
          <a:p>
            <a:r>
              <a:rPr lang="en-US" dirty="0"/>
              <a:t>b) https://www.go0gle-security.com</a:t>
            </a:r>
          </a:p>
          <a:p>
            <a:pPr marL="0" indent="0">
              <a:buNone/>
            </a:pPr>
            <a:endParaRPr lang="en-PK" dirty="0"/>
          </a:p>
        </p:txBody>
      </p:sp>
    </p:spTree>
    <p:extLst>
      <p:ext uri="{BB962C8B-B14F-4D97-AF65-F5344CB8AC3E}">
        <p14:creationId xmlns:p14="http://schemas.microsoft.com/office/powerpoint/2010/main" val="1031905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57743-040A-4212-ABC7-5F0CD7F1B568}"/>
              </a:ext>
            </a:extLst>
          </p:cNvPr>
          <p:cNvSpPr>
            <a:spLocks noGrp="1"/>
          </p:cNvSpPr>
          <p:nvPr>
            <p:ph type="title"/>
          </p:nvPr>
        </p:nvSpPr>
        <p:spPr>
          <a:xfrm>
            <a:off x="826189" y="2842437"/>
            <a:ext cx="8596668" cy="1453116"/>
          </a:xfrm>
        </p:spPr>
        <p:txBody>
          <a:bodyPr/>
          <a:lstStyle/>
          <a:p>
            <a:pPr algn="ctr"/>
            <a:r>
              <a:rPr lang="en-US" b="1" dirty="0"/>
              <a:t>Correct Answer:</a:t>
            </a:r>
            <a:r>
              <a:rPr lang="en-US" dirty="0"/>
              <a:t> b</a:t>
            </a:r>
            <a:br>
              <a:rPr lang="en-US" dirty="0"/>
            </a:br>
            <a:endParaRPr lang="en-PK" dirty="0"/>
          </a:p>
        </p:txBody>
      </p:sp>
    </p:spTree>
    <p:extLst>
      <p:ext uri="{BB962C8B-B14F-4D97-AF65-F5344CB8AC3E}">
        <p14:creationId xmlns:p14="http://schemas.microsoft.com/office/powerpoint/2010/main" val="2205700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F45E-6E35-44ED-8736-A4507671C2F2}"/>
              </a:ext>
            </a:extLst>
          </p:cNvPr>
          <p:cNvSpPr>
            <a:spLocks noGrp="1"/>
          </p:cNvSpPr>
          <p:nvPr>
            <p:ph type="title"/>
          </p:nvPr>
        </p:nvSpPr>
        <p:spPr/>
        <p:txBody>
          <a:bodyPr/>
          <a:lstStyle/>
          <a:p>
            <a:r>
              <a:rPr lang="en-US" b="1" dirty="0"/>
              <a:t>Conclusion</a:t>
            </a:r>
            <a:br>
              <a:rPr lang="en-US" b="1" dirty="0"/>
            </a:br>
            <a:endParaRPr lang="en-PK" dirty="0"/>
          </a:p>
        </p:txBody>
      </p:sp>
      <p:sp>
        <p:nvSpPr>
          <p:cNvPr id="3" name="Content Placeholder 2">
            <a:extLst>
              <a:ext uri="{FF2B5EF4-FFF2-40B4-BE49-F238E27FC236}">
                <a16:creationId xmlns:a16="http://schemas.microsoft.com/office/drawing/2014/main" id="{FAD0BA33-C554-4FC0-A8CA-9E2F8685EF88}"/>
              </a:ext>
            </a:extLst>
          </p:cNvPr>
          <p:cNvSpPr>
            <a:spLocks noGrp="1"/>
          </p:cNvSpPr>
          <p:nvPr>
            <p:ph idx="1"/>
          </p:nvPr>
        </p:nvSpPr>
        <p:spPr>
          <a:xfrm>
            <a:off x="677334" y="1658679"/>
            <a:ext cx="8596668" cy="4382683"/>
          </a:xfrm>
        </p:spPr>
        <p:txBody>
          <a:bodyPr/>
          <a:lstStyle/>
          <a:p>
            <a:pPr marL="0" indent="0">
              <a:buNone/>
            </a:pPr>
            <a:r>
              <a:rPr lang="en-US" sz="2000" dirty="0"/>
              <a:t>Phishing attacks rely on human error rather than technical flaws. By staying alert, verifying sources, and following best practices, users can significantly reduce the risk of falling victim to phishing and social engineering attacks.</a:t>
            </a:r>
          </a:p>
          <a:p>
            <a:pPr marL="0" indent="0" algn="ctr">
              <a:buNone/>
            </a:pPr>
            <a:endParaRPr lang="en-US" sz="2400" b="1" dirty="0">
              <a:solidFill>
                <a:srgbClr val="FF0000"/>
              </a:solidFill>
            </a:endParaRPr>
          </a:p>
          <a:p>
            <a:pPr marL="0" indent="0" algn="ctr">
              <a:buNone/>
            </a:pPr>
            <a:r>
              <a:rPr lang="en-US" sz="3200" b="1" dirty="0">
                <a:solidFill>
                  <a:srgbClr val="FF0000"/>
                </a:solidFill>
              </a:rPr>
              <a:t>Remember:</a:t>
            </a:r>
            <a:r>
              <a:rPr lang="en-US" sz="3200" dirty="0">
                <a:solidFill>
                  <a:srgbClr val="FF0000"/>
                </a:solidFill>
              </a:rPr>
              <a:t> Think before you click!</a:t>
            </a:r>
          </a:p>
          <a:p>
            <a:endParaRPr lang="en-PK" dirty="0"/>
          </a:p>
        </p:txBody>
      </p:sp>
    </p:spTree>
    <p:extLst>
      <p:ext uri="{BB962C8B-B14F-4D97-AF65-F5344CB8AC3E}">
        <p14:creationId xmlns:p14="http://schemas.microsoft.com/office/powerpoint/2010/main" val="193581823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18</TotalTime>
  <Words>505</Words>
  <Application>Microsoft Office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Trebuchet MS</vt:lpstr>
      <vt:lpstr>Wingdings 3</vt:lpstr>
      <vt:lpstr>Facet</vt:lpstr>
      <vt:lpstr>Phishing Awareness Training</vt:lpstr>
      <vt:lpstr>Introduction to Phishing</vt:lpstr>
      <vt:lpstr>How to Recognize Phishing Emails </vt:lpstr>
      <vt:lpstr>How to Identify Fake Websites </vt:lpstr>
      <vt:lpstr>Social Engineering Tactics Used by Attackers </vt:lpstr>
      <vt:lpstr>Best Practices to Avoid Phishing Attacks </vt:lpstr>
      <vt:lpstr>Real-World Phishing Examples </vt:lpstr>
      <vt:lpstr>Interactive Quiz (For Engagement) </vt:lpstr>
      <vt:lpstr>Correct Answer: b </vt:lpstr>
      <vt:lpstr>PowerPoint Presentation</vt:lpstr>
      <vt:lpstr>Correct Answer: c </vt:lpstr>
      <vt:lpstr>PowerPoint Presentation</vt:lpstr>
      <vt:lpstr>Correct Answer: b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dc:creator>Dell</dc:creator>
  <cp:lastModifiedBy>Dell</cp:lastModifiedBy>
  <cp:revision>3</cp:revision>
  <dcterms:created xsi:type="dcterms:W3CDTF">2026-01-09T20:02:22Z</dcterms:created>
  <dcterms:modified xsi:type="dcterms:W3CDTF">2026-01-09T20:20:59Z</dcterms:modified>
</cp:coreProperties>
</file>